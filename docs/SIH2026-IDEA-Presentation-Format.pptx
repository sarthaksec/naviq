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78" y="8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7972" y="1502395"/>
            <a:ext cx="6756920" cy="5055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SIH26168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AI-ML based Intelligent Dead Reckoning system for seamless navigation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Smart Vehicles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 - STARK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IN" sz="3200" b="1" dirty="0">
                <a:latin typeface="Netflix Sans" panose="020B0603020202020204" pitchFamily="34" charset="0"/>
                <a:ea typeface="Netflix Sans" panose="020B0603020202020204" pitchFamily="34" charset="0"/>
                <a:cs typeface="Netflix Sans" panose="020B0603020202020204" pitchFamily="34" charset="0"/>
              </a:rPr>
              <a:t>AI-ML based Intelligent Dead Reckoning</a:t>
            </a:r>
            <a:br>
              <a:rPr lang="en-IN" sz="3200" b="1" dirty="0">
                <a:latin typeface="Netflix Sans" panose="020B0603020202020204" pitchFamily="34" charset="0"/>
                <a:ea typeface="Netflix Sans" panose="020B0603020202020204" pitchFamily="34" charset="0"/>
                <a:cs typeface="Netflix Sans" panose="020B0603020202020204" pitchFamily="34" charset="0"/>
              </a:rPr>
            </a:br>
            <a:r>
              <a:rPr lang="en-IN" sz="3200" b="1" dirty="0">
                <a:latin typeface="Netflix Sans" panose="020B0603020202020204" pitchFamily="34" charset="0"/>
                <a:ea typeface="Netflix Sans" panose="020B0603020202020204" pitchFamily="34" charset="0"/>
                <a:cs typeface="Netflix Sans" panose="020B0603020202020204" pitchFamily="34" charset="0"/>
              </a:rPr>
              <a:t> system for seamless navigation</a:t>
            </a:r>
            <a:endParaRPr lang="en-US" sz="3200" b="1" dirty="0">
              <a:latin typeface="Netflix Sans" panose="020B0603020202020204" pitchFamily="34" charset="0"/>
              <a:ea typeface="Netflix Sans" panose="020B0603020202020204" pitchFamily="34" charset="0"/>
              <a:cs typeface="Netflix Sans" panose="020B0603020202020204" pitchFamily="34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2" y="1063838"/>
            <a:ext cx="6508954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Solution: NavIQ App</a:t>
            </a:r>
            <a:endParaRPr lang="en-US" sz="28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85057" y="167833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STARK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2CF1313-A07D-05B9-0452-B3E18FADB9CC}"/>
              </a:ext>
            </a:extLst>
          </p:cNvPr>
          <p:cNvCxnSpPr>
            <a:cxnSpLocks/>
          </p:cNvCxnSpPr>
          <p:nvPr/>
        </p:nvCxnSpPr>
        <p:spPr>
          <a:xfrm>
            <a:off x="5978013" y="1366684"/>
            <a:ext cx="0" cy="53547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358AA70-2B95-4662-43C1-D9B79F2EF42A}"/>
              </a:ext>
            </a:extLst>
          </p:cNvPr>
          <p:cNvSpPr txBox="1"/>
          <p:nvPr/>
        </p:nvSpPr>
        <p:spPr>
          <a:xfrm>
            <a:off x="185057" y="2015613"/>
            <a:ext cx="4809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1. Sensor Ingestion &amp; Gravity Alignment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8145C0-F57C-C99F-5DEE-5D82AF7C3A58}"/>
              </a:ext>
            </a:extLst>
          </p:cNvPr>
          <p:cNvSpPr txBox="1"/>
          <p:nvPr/>
        </p:nvSpPr>
        <p:spPr>
          <a:xfrm>
            <a:off x="294968" y="2384945"/>
            <a:ext cx="546673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• Continuously capture </a:t>
            </a:r>
            <a:r>
              <a:rPr lang="en-IN" b="1" dirty="0"/>
              <a:t>raw IMU data</a:t>
            </a:r>
            <a:r>
              <a:rPr lang="en-IN" dirty="0"/>
              <a:t> (Accelerometer &amp; Gyroscope) at high polling rates (100Hz+) natively from the smartphone.</a:t>
            </a:r>
            <a:br>
              <a:rPr lang="en-IN" dirty="0"/>
            </a:br>
            <a:r>
              <a:rPr lang="en-IN" dirty="0"/>
              <a:t>• Apply </a:t>
            </a:r>
            <a:r>
              <a:rPr lang="en-IN" b="1" dirty="0"/>
              <a:t>Principal Component Analysis (PCA)</a:t>
            </a:r>
            <a:r>
              <a:rPr lang="en-IN" dirty="0"/>
              <a:t> to isolate the Earth's gravity vector (1g).</a:t>
            </a:r>
            <a:br>
              <a:rPr lang="en-IN" dirty="0"/>
            </a:br>
            <a:r>
              <a:rPr lang="en-IN" dirty="0"/>
              <a:t>• Use robust </a:t>
            </a:r>
            <a:r>
              <a:rPr lang="en-IN" b="1" dirty="0"/>
              <a:t>Coordinate Rotation</a:t>
            </a:r>
            <a:r>
              <a:rPr lang="en-IN" dirty="0"/>
              <a:t> to instantly align the phone's erratic physical orientation to a standard </a:t>
            </a:r>
            <a:r>
              <a:rPr lang="en-IN" b="1" dirty="0"/>
              <a:t>"road horizon"</a:t>
            </a:r>
            <a:r>
              <a:rPr lang="en-IN" dirty="0"/>
              <a:t> frame.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009739-C8EE-5549-C700-0BA772C11A5F}"/>
              </a:ext>
            </a:extLst>
          </p:cNvPr>
          <p:cNvSpPr txBox="1"/>
          <p:nvPr/>
        </p:nvSpPr>
        <p:spPr>
          <a:xfrm>
            <a:off x="196645" y="4778500"/>
            <a:ext cx="589935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2. Edge AI &amp; Sensor Fusion</a:t>
            </a:r>
            <a:br>
              <a:rPr lang="en-IN" dirty="0"/>
            </a:br>
            <a:r>
              <a:rPr lang="en-IN" b="1" dirty="0"/>
              <a:t>1D-CNN Velocity Predictor (Key Innovation):</a:t>
            </a:r>
            <a:br>
              <a:rPr lang="en-IN" dirty="0"/>
            </a:br>
            <a:r>
              <a:rPr lang="en-IN" dirty="0"/>
              <a:t>• Deploy a </a:t>
            </a:r>
            <a:r>
              <a:rPr lang="en-IN" b="1" dirty="0"/>
              <a:t>1D Convolutional Neural Network</a:t>
            </a:r>
            <a:r>
              <a:rPr lang="en-IN" dirty="0"/>
              <a:t> directly on the edge to </a:t>
            </a:r>
            <a:r>
              <a:rPr lang="en-IN" dirty="0" err="1"/>
              <a:t>analyze</a:t>
            </a:r>
            <a:r>
              <a:rPr lang="en-IN" dirty="0"/>
              <a:t> vibration patterns rather than using traditional integration math.</a:t>
            </a:r>
            <a:br>
              <a:rPr lang="en-IN" dirty="0"/>
            </a:br>
            <a:r>
              <a:rPr lang="en-IN" dirty="0"/>
              <a:t>• Filter out </a:t>
            </a:r>
            <a:r>
              <a:rPr lang="en-IN" b="1" dirty="0"/>
              <a:t>human movement noise</a:t>
            </a:r>
            <a:r>
              <a:rPr lang="en-IN" dirty="0"/>
              <a:t> and directly output highly accurate </a:t>
            </a:r>
            <a:r>
              <a:rPr lang="en-IN" b="1" dirty="0"/>
              <a:t>forward velocity vectors</a:t>
            </a:r>
            <a:r>
              <a:rPr lang="en-IN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9D92CE-599D-E566-4981-EEE9BA757193}"/>
              </a:ext>
            </a:extLst>
          </p:cNvPr>
          <p:cNvSpPr txBox="1"/>
          <p:nvPr/>
        </p:nvSpPr>
        <p:spPr>
          <a:xfrm>
            <a:off x="6072521" y="1296084"/>
            <a:ext cx="600750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3. Map-Matching &amp; Correction</a:t>
            </a:r>
            <a:br>
              <a:rPr lang="en-IN" dirty="0"/>
            </a:br>
            <a:r>
              <a:rPr lang="en-IN" dirty="0"/>
              <a:t>• Load a digitized graph of the </a:t>
            </a:r>
            <a:r>
              <a:rPr lang="en-IN" b="1" dirty="0"/>
              <a:t>tunnel/road network topology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• Utilize a </a:t>
            </a:r>
            <a:r>
              <a:rPr lang="en-IN" b="1" dirty="0"/>
              <a:t>Hidden Markov Model (HMM)</a:t>
            </a:r>
            <a:r>
              <a:rPr lang="en-IN" dirty="0"/>
              <a:t> equipped with the </a:t>
            </a:r>
            <a:r>
              <a:rPr lang="en-IN" b="1" dirty="0"/>
              <a:t>Viterbi algorithm</a:t>
            </a:r>
            <a:r>
              <a:rPr lang="en-IN" dirty="0"/>
              <a:t> to </a:t>
            </a:r>
            <a:r>
              <a:rPr lang="en-IN" dirty="0" err="1"/>
              <a:t>analyze</a:t>
            </a:r>
            <a:r>
              <a:rPr lang="en-IN" dirty="0"/>
              <a:t> trajectory probabilities.</a:t>
            </a:r>
            <a:br>
              <a:rPr lang="en-IN" dirty="0"/>
            </a:br>
            <a:r>
              <a:rPr lang="en-IN" dirty="0"/>
              <a:t>• Mathematically </a:t>
            </a:r>
            <a:r>
              <a:rPr lang="en-IN" b="1" dirty="0"/>
              <a:t>it would snap</a:t>
            </a:r>
            <a:r>
              <a:rPr lang="en-IN" dirty="0"/>
              <a:t> drifting (X, Y) coordinates back onto the nearest logical road segment.</a:t>
            </a:r>
            <a:br>
              <a:rPr lang="en-IN" dirty="0"/>
            </a:br>
            <a:r>
              <a:rPr lang="en-IN" dirty="0"/>
              <a:t>• Guarantee absolute </a:t>
            </a:r>
            <a:r>
              <a:rPr lang="en-IN" b="1" dirty="0"/>
              <a:t>lane-level accuracy</a:t>
            </a:r>
            <a:r>
              <a:rPr lang="en-IN" dirty="0"/>
              <a:t> despite prolonged GNSS blackouts.( top requirement of the solution ).*close to single lane </a:t>
            </a:r>
            <a:r>
              <a:rPr lang="en-IN" dirty="0" err="1"/>
              <a:t>accuracyy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A20CEA-95B7-681A-128D-F25375A37A4D}"/>
              </a:ext>
            </a:extLst>
          </p:cNvPr>
          <p:cNvSpPr txBox="1"/>
          <p:nvPr/>
        </p:nvSpPr>
        <p:spPr>
          <a:xfrm>
            <a:off x="6096000" y="4073820"/>
            <a:ext cx="600750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Key Features</a:t>
            </a:r>
            <a:br>
              <a:rPr lang="en-IN" dirty="0"/>
            </a:br>
            <a:r>
              <a:rPr lang="en-IN" b="1" dirty="0"/>
              <a:t>Zero Vehicle Dependency</a:t>
            </a:r>
            <a:r>
              <a:rPr lang="en-IN" dirty="0"/>
              <a:t>: Treats the car as a black box; relies 100% on smartphone sensors without OBD-II.</a:t>
            </a:r>
            <a:br>
              <a:rPr lang="en-IN" dirty="0"/>
            </a:br>
            <a:r>
              <a:rPr lang="en-IN" b="1" dirty="0"/>
              <a:t>Vibration Analysis</a:t>
            </a:r>
            <a:r>
              <a:rPr lang="en-IN" dirty="0"/>
              <a:t>: Uses a 1D-CNN to infer speed from accelerometer noise instead of error-prone math.</a:t>
            </a:r>
            <a:br>
              <a:rPr lang="en-IN" dirty="0"/>
            </a:br>
            <a:r>
              <a:rPr lang="en-IN" b="1" dirty="0"/>
              <a:t>Seamless Transition</a:t>
            </a:r>
            <a:r>
              <a:rPr lang="en-IN" dirty="0"/>
              <a:t>: Instant handoff from GPS to AI Dead Reckoning via Flutter platform channels.</a:t>
            </a:r>
            <a:br>
              <a:rPr lang="en-IN" dirty="0"/>
            </a:br>
            <a:r>
              <a:rPr lang="en-IN" b="1" dirty="0"/>
              <a:t>Edge Processing</a:t>
            </a:r>
            <a:r>
              <a:rPr lang="en-IN" dirty="0"/>
              <a:t>: Low-latency, offline inference running natively on the device.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29773" y="-176483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Netflix Sans" panose="020B0603020202020204" pitchFamily="34" charset="0"/>
                <a:ea typeface="Netflix Sans" panose="020B0603020202020204" pitchFamily="34" charset="0"/>
                <a:cs typeface="Netflix Sans" panose="020B0603020202020204" pitchFamily="34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129001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STARK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29CE259-0820-4624-6AD4-6C048B240DA0}"/>
              </a:ext>
            </a:extLst>
          </p:cNvPr>
          <p:cNvSpPr txBox="1"/>
          <p:nvPr/>
        </p:nvSpPr>
        <p:spPr>
          <a:xfrm>
            <a:off x="235974" y="1307690"/>
            <a:ext cx="619432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• Frontend:</a:t>
            </a:r>
            <a:r>
              <a:rPr lang="en-IN" sz="2800" dirty="0"/>
              <a:t> Flutter(Android/iOS)</a:t>
            </a:r>
            <a:br>
              <a:rPr lang="en-IN" sz="2800" dirty="0"/>
            </a:br>
            <a:r>
              <a:rPr lang="en-IN" sz="2800" b="1" dirty="0"/>
              <a:t>• Programming Languages:</a:t>
            </a:r>
            <a:r>
              <a:rPr lang="en-IN" sz="2800" dirty="0"/>
              <a:t> Python, Dart, C++ (FFI)</a:t>
            </a:r>
            <a:br>
              <a:rPr lang="en-IN" sz="2800" dirty="0"/>
            </a:br>
            <a:r>
              <a:rPr lang="en-IN" sz="2800" b="1" dirty="0"/>
              <a:t>• Edge Engine:</a:t>
            </a:r>
            <a:r>
              <a:rPr lang="en-IN" sz="2800" dirty="0"/>
              <a:t> ONNX Runtime, Python Data Processing</a:t>
            </a:r>
            <a:br>
              <a:rPr lang="en-IN" sz="2800" dirty="0"/>
            </a:br>
            <a:r>
              <a:rPr lang="en-IN" sz="2800" b="1" dirty="0"/>
              <a:t>• Sensors &amp; APIs:</a:t>
            </a:r>
            <a:r>
              <a:rPr lang="en-IN" sz="2800" dirty="0"/>
              <a:t> Smartphone IMU (Accelerometer, Gyroscope), OpenStreetMap (OSM)</a:t>
            </a:r>
            <a:br>
              <a:rPr lang="en-IN" sz="2800" dirty="0"/>
            </a:br>
            <a:r>
              <a:rPr lang="en-IN" sz="2800" b="1" dirty="0"/>
              <a:t>• AI / ML:</a:t>
            </a:r>
            <a:r>
              <a:rPr lang="en-IN" sz="2800" dirty="0"/>
              <a:t> </a:t>
            </a:r>
            <a:r>
              <a:rPr lang="en-IN" sz="2800" dirty="0" err="1"/>
              <a:t>PyTorch</a:t>
            </a:r>
            <a:r>
              <a:rPr lang="en-IN" sz="2800" dirty="0"/>
              <a:t>, 1D-CNN (Velocity Prediction), Unscented Kalman Filter (UKF), Hidden Markov Model (HMM)</a:t>
            </a:r>
            <a:br>
              <a:rPr lang="en-IN" sz="2800" dirty="0"/>
            </a:br>
            <a:r>
              <a:rPr lang="en-IN" sz="2800" b="1" dirty="0"/>
              <a:t>• Training Dataset/Raw CSVs:</a:t>
            </a:r>
            <a:r>
              <a:rPr lang="en-IN" sz="2800" dirty="0"/>
              <a:t> GitHub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STARK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STARK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7753</TotalTime>
  <Words>626</Words>
  <Application>Microsoft Office PowerPoint</Application>
  <PresentationFormat>Widescreen</PresentationFormat>
  <Paragraphs>56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ＭＳ Ｐゴシック</vt:lpstr>
      <vt:lpstr>Arial</vt:lpstr>
      <vt:lpstr>Calibri</vt:lpstr>
      <vt:lpstr>Garamond</vt:lpstr>
      <vt:lpstr>Netflix Sans</vt:lpstr>
      <vt:lpstr>Times New Roman</vt:lpstr>
      <vt:lpstr>TradeGothic</vt:lpstr>
      <vt:lpstr>Wingdings</vt:lpstr>
      <vt:lpstr>Office Theme</vt:lpstr>
      <vt:lpstr>SMART INDIA HACKATHON 2026</vt:lpstr>
      <vt:lpstr>AI-ML based Intelligent Dead Reckoning  system for seamless navigation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Sarthak Agnihotri</cp:lastModifiedBy>
  <cp:revision>151</cp:revision>
  <dcterms:created xsi:type="dcterms:W3CDTF">2013-12-12T18:46:50Z</dcterms:created>
  <dcterms:modified xsi:type="dcterms:W3CDTF">2026-09-04T21:34:16Z</dcterms:modified>
  <cp:category/>
</cp:coreProperties>
</file>