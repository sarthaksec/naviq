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0E5B69-6954-4EBF-8ABB-AF7AF3A3169A}" v="252" dt="2025-09-16T17:58:26.900"/>
    <p1510:client id="{41BF881E-62AD-4A12-9C4E-1CF1253B6092}" v="48" dt="2025-09-16T18:29:21.129"/>
    <p1510:client id="{A382B0AA-77B2-46C6-936D-51E66F70A9FB}" v="452" dt="2025-09-16T18:28:30.318"/>
    <p1510:client id="{B9B20656-658A-434A-94B1-CE56E518D23A}" v="1924" dt="2025-09-16T18:21:44.7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2.png"/><Relationship Id="rId21" Type="http://schemas.openxmlformats.org/officeDocument/2006/relationships/image" Target="../media/image21.jpe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409.08916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cropin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ecure.mygov.in/group-issue/kisan-suvidha-smart-mobile-app-farmers/" TargetMode="External"/><Relationship Id="rId5" Type="http://schemas.openxmlformats.org/officeDocument/2006/relationships/hyperlink" Target="https://plantix.net/" TargetMode="External"/><Relationship Id="rId10" Type="http://schemas.openxmlformats.org/officeDocument/2006/relationships/hyperlink" Target="https://www.linkedin.com/pulse/krishi-saathi-ai-powered-agricultural-advisory-indias-yfznc/" TargetMode="External"/><Relationship Id="rId4" Type="http://schemas.openxmlformats.org/officeDocument/2006/relationships/hyperlink" Target="https://agrostar.in/shop?language=hi&amp;state=uttar-pradesh" TargetMode="External"/><Relationship Id="rId9" Type="http://schemas.openxmlformats.org/officeDocument/2006/relationships/hyperlink" Target="https://plantnet.org/e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1613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SIH25010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Smart Crop Advisory System for Small and Marginal Farmers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Theme- </a:t>
            </a:r>
            <a:r>
              <a:rPr lang="en-US" sz="1600" b="1">
                <a:latin typeface="Arial"/>
                <a:ea typeface="ＭＳ Ｐゴシック"/>
                <a:cs typeface="Arial"/>
              </a:rPr>
              <a:t>Agriculture, FoodTech &amp; Rural Development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Team Name (Registered on portal)-</a:t>
            </a:r>
            <a:r>
              <a:rPr lang="en-US" sz="1400" b="1">
                <a:latin typeface="Arial"/>
                <a:ea typeface="ＭＳ Ｐゴシック"/>
                <a:cs typeface="Arial"/>
              </a:rPr>
              <a:t> </a:t>
            </a:r>
            <a:r>
              <a:rPr lang="en-US" sz="1400" b="1" err="1">
                <a:latin typeface="Arial"/>
                <a:ea typeface="ＭＳ Ｐゴシック"/>
                <a:cs typeface="Arial"/>
              </a:rPr>
              <a:t>CodeCatalyst</a:t>
            </a:r>
            <a:r>
              <a:rPr lang="en-US" sz="1400" b="1">
                <a:latin typeface="Arial"/>
                <a:ea typeface="ＭＳ Ｐゴシック"/>
                <a:cs typeface="Arial"/>
              </a:rPr>
              <a:t> 6.0</a:t>
            </a:r>
            <a:endParaRPr lang="en-IN" sz="1400" b="1">
              <a:latin typeface="Arial"/>
              <a:ea typeface="ＭＳ Ｐゴシック"/>
              <a:cs typeface="Arial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Smart Crop Advisory System for Small and Marginal Farmers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3556" y="1143000"/>
            <a:ext cx="1219199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/>
                <a:ea typeface="ＭＳ Ｐゴシック"/>
                <a:cs typeface="Arial"/>
              </a:rPr>
              <a:t>Proposed Solution : </a:t>
            </a:r>
            <a:r>
              <a:rPr lang="en-US" sz="2800" b="1" u="sng" err="1">
                <a:solidFill>
                  <a:schemeClr val="tx2"/>
                </a:solidFill>
                <a:latin typeface="Arial"/>
                <a:ea typeface="ＭＳ Ｐゴシック"/>
                <a:cs typeface="Arial"/>
              </a:rPr>
              <a:t>KrishiSakhi</a:t>
            </a:r>
            <a:r>
              <a:rPr lang="en-US" sz="2800" b="1" u="sng" dirty="0">
                <a:solidFill>
                  <a:schemeClr val="tx2"/>
                </a:solidFill>
                <a:latin typeface="Arial"/>
                <a:ea typeface="ＭＳ Ｐゴシック"/>
                <a:cs typeface="Arial"/>
              </a:rPr>
              <a:t> App</a:t>
            </a:r>
            <a:endParaRPr lang="en-US" sz="2800" u="sng" dirty="0">
              <a:solidFill>
                <a:schemeClr val="tx2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</a:t>
            </a:r>
            <a:r>
              <a:rPr lang="en-US" sz="1700" dirty="0"/>
              <a:t>Catalyst</a:t>
            </a:r>
          </a:p>
          <a:p>
            <a:pPr algn="ctr"/>
            <a:r>
              <a:rPr lang="en-US" dirty="0"/>
              <a:t>6.0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33428" y="1716403"/>
            <a:ext cx="6360672" cy="310854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b="1" u="sng" dirty="0" err="1">
                <a:latin typeface="Arial"/>
                <a:ea typeface="ＭＳ Ｐゴシック"/>
                <a:cs typeface="Arial"/>
              </a:rPr>
              <a:t>KrishiSakhi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, a simple app and website that gives farmers advice in their own language. It helps with crops, soil, pests, fertilizers, weather and market prices.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b="1" u="sng" dirty="0">
                <a:latin typeface="Arial"/>
                <a:ea typeface="ＭＳ Ｐゴシック"/>
                <a:cs typeface="Arial"/>
              </a:rPr>
              <a:t>Key Features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:</a:t>
            </a:r>
          </a:p>
          <a:p>
            <a:pPr marL="800100" lvl="1" indent="-342900" algn="just">
              <a:buAutoNum type="arabicPeriod"/>
            </a:pPr>
            <a:r>
              <a:rPr lang="en-US" sz="1400" b="1" dirty="0" err="1">
                <a:latin typeface="Arial"/>
                <a:ea typeface="ＭＳ Ｐゴシック"/>
                <a:cs typeface="Arial"/>
              </a:rPr>
              <a:t>AgroBot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: Chatbot for crop advice in local language.</a:t>
            </a:r>
          </a:p>
          <a:p>
            <a:pPr marL="800100" lvl="1" indent="-342900" algn="just">
              <a:buAutoNum type="arabicPeriod"/>
            </a:pPr>
            <a:r>
              <a:rPr lang="en-US" sz="1400" b="1" dirty="0" err="1">
                <a:latin typeface="Arial"/>
                <a:ea typeface="ＭＳ Ｐゴシック"/>
                <a:cs typeface="Arial"/>
              </a:rPr>
              <a:t>KisanVoice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: Farmers can talk and get answers by voice.</a:t>
            </a:r>
          </a:p>
          <a:p>
            <a:pPr marL="800100" lvl="1" indent="-342900" algn="just">
              <a:buAutoNum type="arabicPeriod"/>
            </a:pPr>
            <a:r>
              <a:rPr lang="en-US" sz="1400" b="1" dirty="0" err="1">
                <a:latin typeface="Arial"/>
                <a:ea typeface="ＭＳ Ｐゴシック"/>
                <a:cs typeface="Arial"/>
              </a:rPr>
              <a:t>MittiMitra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: Soil and fertilizer tips.</a:t>
            </a:r>
          </a:p>
          <a:p>
            <a:pPr marL="800100" lvl="1" indent="-342900" algn="just">
              <a:buAutoNum type="arabicPeriod"/>
            </a:pPr>
            <a:r>
              <a:rPr lang="en-US" sz="1400" b="1" dirty="0">
                <a:latin typeface="Arial"/>
                <a:ea typeface="ＭＳ Ｐゴシック"/>
                <a:cs typeface="Arial"/>
              </a:rPr>
              <a:t>Disease check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: Framers can upload crop photos to find  diseases.</a:t>
            </a:r>
          </a:p>
          <a:p>
            <a:pPr marL="800100" lvl="1" indent="-342900" algn="just">
              <a:buAutoNum type="arabicPeriod"/>
            </a:pPr>
            <a:r>
              <a:rPr lang="en-US" sz="1400" b="1" dirty="0">
                <a:latin typeface="Arial"/>
                <a:ea typeface="ＭＳ Ｐゴシック"/>
                <a:cs typeface="Arial"/>
              </a:rPr>
              <a:t>Alerts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: Live weather and market price updates.</a:t>
            </a:r>
          </a:p>
          <a:p>
            <a:pPr marL="742950" lvl="1" indent="-285750" algn="just">
              <a:buAutoNum type="arabicPeriod"/>
            </a:pPr>
            <a:r>
              <a:rPr lang="en-US" sz="1400" dirty="0">
                <a:latin typeface="Arial"/>
                <a:ea typeface="ＭＳ Ｐゴシック"/>
                <a:cs typeface="Arial"/>
              </a:rPr>
              <a:t>Easy to use for farmers with low literacy, support local languages, save money and increases crop productivity, scalable, affordable, and helps millions of small farmers.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/>
                <a:ea typeface="ＭＳ Ｐゴシック"/>
                <a:cs typeface="Arial"/>
              </a:rPr>
              <a:t>Work flow: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b="1" dirty="0"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8781" y="4878267"/>
            <a:ext cx="1008404" cy="5298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 Login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/>
          <p:cNvCxnSpPr>
            <a:stCxn id="3" idx="3"/>
          </p:cNvCxnSpPr>
          <p:nvPr/>
        </p:nvCxnSpPr>
        <p:spPr>
          <a:xfrm>
            <a:off x="1407185" y="5143187"/>
            <a:ext cx="4963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954778" y="4827675"/>
            <a:ext cx="1465524" cy="5995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the requirement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/>
          <p:cNvCxnSpPr>
            <a:stCxn id="8" idx="3"/>
          </p:cNvCxnSpPr>
          <p:nvPr/>
        </p:nvCxnSpPr>
        <p:spPr>
          <a:xfrm>
            <a:off x="3420302" y="5127473"/>
            <a:ext cx="5811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045117" y="4782447"/>
            <a:ext cx="1452785" cy="660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analysis the requirement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/>
          <p:cNvCxnSpPr>
            <a:stCxn id="19" idx="3"/>
          </p:cNvCxnSpPr>
          <p:nvPr/>
        </p:nvCxnSpPr>
        <p:spPr>
          <a:xfrm flipV="1">
            <a:off x="5497902" y="5103609"/>
            <a:ext cx="533375" cy="92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079016" y="4717371"/>
            <a:ext cx="1346699" cy="72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the advice by text, voice, or image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200" y="1059580"/>
            <a:ext cx="3500152" cy="46309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6315" y="1365168"/>
            <a:ext cx="5582773" cy="3940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Frontend</a:t>
            </a:r>
            <a:r>
              <a:rPr lang="en-US">
                <a:latin typeface="Arial"/>
                <a:ea typeface="ＭＳ Ｐゴシック"/>
                <a:cs typeface="Arial"/>
              </a:rPr>
              <a:t>: Flutter, React.js</a:t>
            </a:r>
          </a:p>
          <a:p>
            <a:pPr marL="342900" indent="-342900" algn="just">
              <a:buFont typeface="Arial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Programing Languages</a:t>
            </a:r>
            <a:r>
              <a:rPr lang="en-US">
                <a:latin typeface="Arial"/>
                <a:ea typeface="ＭＳ Ｐゴシック"/>
                <a:cs typeface="Arial"/>
              </a:rPr>
              <a:t>: Python, Dart, </a:t>
            </a:r>
            <a:r>
              <a:rPr lang="en-US" err="1">
                <a:latin typeface="Arial"/>
                <a:ea typeface="ＭＳ Ｐゴシック"/>
                <a:cs typeface="Arial"/>
              </a:rPr>
              <a:t>Javascript</a:t>
            </a:r>
            <a:r>
              <a:rPr lang="en-US">
                <a:latin typeface="Arial"/>
                <a:ea typeface="ＭＳ Ｐゴシック"/>
                <a:cs typeface="Arial"/>
              </a:rPr>
              <a:t> , Typescript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Backend &amp; Database</a:t>
            </a:r>
            <a:r>
              <a:rPr lang="en-US">
                <a:latin typeface="Arial"/>
                <a:ea typeface="ＭＳ Ｐゴシック"/>
                <a:cs typeface="Arial"/>
              </a:rPr>
              <a:t>: Firebase (Auth, </a:t>
            </a:r>
            <a:r>
              <a:rPr lang="en-US" err="1">
                <a:latin typeface="Arial"/>
                <a:ea typeface="ＭＳ Ｐゴシック"/>
                <a:cs typeface="Arial"/>
              </a:rPr>
              <a:t>Firestore</a:t>
            </a:r>
            <a:r>
              <a:rPr lang="en-US">
                <a:latin typeface="Arial"/>
                <a:ea typeface="ＭＳ Ｐゴシック"/>
                <a:cs typeface="Arial"/>
              </a:rPr>
              <a:t>, Cloud Function, ML Kit, Cloud Storage, Messaging), Next.js, Express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APIs</a:t>
            </a:r>
            <a:r>
              <a:rPr lang="en-US">
                <a:latin typeface="Arial"/>
                <a:ea typeface="ＭＳ Ｐゴシック"/>
                <a:cs typeface="Arial"/>
              </a:rPr>
              <a:t>: </a:t>
            </a:r>
            <a:r>
              <a:rPr lang="en-US" err="1">
                <a:latin typeface="Arial"/>
                <a:ea typeface="ＭＳ Ｐゴシック"/>
                <a:cs typeface="Arial"/>
              </a:rPr>
              <a:t>OpenWeatherMap</a:t>
            </a:r>
            <a:r>
              <a:rPr lang="en-US">
                <a:latin typeface="Arial"/>
                <a:ea typeface="ＭＳ Ｐゴシック"/>
                <a:cs typeface="Arial"/>
              </a:rPr>
              <a:t>(Weather), Government Market Price APIs(Price Tracking)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AI/ML</a:t>
            </a:r>
            <a:r>
              <a:rPr lang="en-US">
                <a:latin typeface="Arial"/>
                <a:ea typeface="ＭＳ Ｐゴシック"/>
                <a:cs typeface="Arial"/>
              </a:rPr>
              <a:t>: Firebase ML Kit, Google Vision API, TensorFlow Model (Disease Detection), RASA, </a:t>
            </a:r>
            <a:r>
              <a:rPr lang="en-US" err="1">
                <a:latin typeface="Arial"/>
                <a:ea typeface="ＭＳ Ｐゴシック"/>
                <a:cs typeface="Arial"/>
              </a:rPr>
              <a:t>PyTorch</a:t>
            </a:r>
            <a:r>
              <a:rPr lang="en-US">
                <a:latin typeface="Arial"/>
                <a:ea typeface="ＭＳ Ｐゴシック"/>
                <a:cs typeface="Arial"/>
              </a:rPr>
              <a:t>, Transformer, </a:t>
            </a:r>
            <a:r>
              <a:rPr lang="en-US" err="1">
                <a:latin typeface="Arial"/>
                <a:ea typeface="ＭＳ Ｐゴシック"/>
                <a:cs typeface="Arial"/>
              </a:rPr>
              <a:t>XGBoost</a:t>
            </a:r>
            <a:endParaRPr lang="en-US">
              <a:latin typeface="Arial"/>
              <a:ea typeface="ＭＳ Ｐゴシック"/>
              <a:cs typeface="Arial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Voice &amp; Language</a:t>
            </a:r>
            <a:r>
              <a:rPr lang="en-US">
                <a:latin typeface="Arial"/>
                <a:ea typeface="ＭＳ Ｐゴシック"/>
                <a:cs typeface="Arial"/>
              </a:rPr>
              <a:t>: Google Cloud Translator API, Google Speech-to-text API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DevOps/Collaboration</a:t>
            </a:r>
            <a:r>
              <a:rPr lang="en-US">
                <a:latin typeface="Arial"/>
                <a:ea typeface="ＭＳ Ｐゴシック"/>
                <a:cs typeface="Arial"/>
              </a:rPr>
              <a:t>: GitHub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</a:t>
            </a:r>
            <a:r>
              <a:rPr lang="en-US" sz="1700" dirty="0"/>
              <a:t>Catalyst </a:t>
            </a:r>
            <a:r>
              <a:rPr lang="en-US" dirty="0"/>
              <a:t>6.0</a:t>
            </a:r>
            <a:endParaRPr lang="en-IN" sz="1700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940969" y="1344569"/>
            <a:ext cx="2142828" cy="1474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4" name="Picture 10" descr="Flutter Vector SVG Icon - SVG Rep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478" y="1573760"/>
            <a:ext cx="482991" cy="482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6287897" y="1117692"/>
            <a:ext cx="1448972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Frontend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8" name="Picture 14" descr="Free React Icon - Free Download Logos Icons | IconScou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052" y="1615746"/>
            <a:ext cx="466104" cy="46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JavaScript JS Logo Icon HD 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085" y="1547154"/>
            <a:ext cx="553781" cy="634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File:Dart logo.png - Wikimedia Common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478" y="2148421"/>
            <a:ext cx="541900" cy="54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File:Python-logo-notext.svg - Wikimedia Commons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052" y="2239420"/>
            <a:ext cx="422141" cy="42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File:Typescript logo 2020.svg - Wikimedia Commons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684" y="2239420"/>
            <a:ext cx="536003" cy="43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/>
          <p:cNvCxnSpPr>
            <a:stCxn id="2" idx="3"/>
          </p:cNvCxnSpPr>
          <p:nvPr/>
        </p:nvCxnSpPr>
        <p:spPr>
          <a:xfrm flipV="1">
            <a:off x="8083797" y="2081850"/>
            <a:ext cx="75216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835963" y="1216600"/>
            <a:ext cx="2225327" cy="14745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9478922" y="1091974"/>
            <a:ext cx="848871" cy="37504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54" name="Picture 30" descr="OpenWeather · GitHub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6283" y="1350984"/>
            <a:ext cx="684959" cy="684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Market price logo design template | Premium Vector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5771" y="1526389"/>
            <a:ext cx="857608" cy="676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Cloud Translation API – Marketplace – Google Cloud console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192" y="2092054"/>
            <a:ext cx="926515" cy="46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Google launches Cloud Vision API application - Routee.net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1284" y="2009925"/>
            <a:ext cx="775431" cy="51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Arrow Connector 21"/>
          <p:cNvCxnSpPr>
            <a:stCxn id="16" idx="2"/>
          </p:cNvCxnSpPr>
          <p:nvPr/>
        </p:nvCxnSpPr>
        <p:spPr>
          <a:xfrm flipH="1">
            <a:off x="9948625" y="2691163"/>
            <a:ext cx="2" cy="5863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568813" y="3421008"/>
            <a:ext cx="3013587" cy="122191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9260293" y="3308823"/>
            <a:ext cx="1520715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AI / ML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64" name="Picture 40" descr="ML Kit | Google for Developers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8746" y="3737007"/>
            <a:ext cx="438747" cy="367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 descr="Google TensorFlow Icon SVG Vector &amp; PNG Free Download | UXWin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3339" y="3737007"/>
            <a:ext cx="484868" cy="461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 descr="GitHub - RasaHQ/rasa: 💬 Open source machine learning framework to automate  text- and voice-based conversations: NLU, dialogue management, connect to  Slack, Facebook, and more - Create chatbots and voice assistants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290" y="3771953"/>
            <a:ext cx="455867" cy="45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 descr="File:PyTorch logo icon.svg - Wikimedia Commons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767" y="3640194"/>
            <a:ext cx="485326" cy="587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Picture 48" descr="Understanding XGBoost &amp; it's growing popularity among the ML community | by  Deep Borkar | Analytics Vidhya | Medium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71" y="4162354"/>
            <a:ext cx="761741" cy="42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Straight Arrow Connector 28"/>
          <p:cNvCxnSpPr>
            <a:stCxn id="23" idx="2"/>
          </p:cNvCxnSpPr>
          <p:nvPr/>
        </p:nvCxnSpPr>
        <p:spPr>
          <a:xfrm flipH="1">
            <a:off x="8895939" y="4642923"/>
            <a:ext cx="1179668" cy="5723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003478" y="5273235"/>
            <a:ext cx="3837888" cy="96428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4" name="TextBox 1023"/>
          <p:cNvSpPr txBox="1"/>
          <p:nvPr/>
        </p:nvSpPr>
        <p:spPr>
          <a:xfrm>
            <a:off x="7165660" y="5117427"/>
            <a:ext cx="1525015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Backend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74" name="Picture 50" descr="Firebase Brand Guidelines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5462661"/>
            <a:ext cx="644734" cy="644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8" name="Picture 54" descr="Next.js Logo &amp; Brand Assets (SVG, PNG and vector) - Brandfetch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594" y="5544701"/>
            <a:ext cx="598231" cy="598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Picture 56" descr="Cloud storage logo design template | Premium Vector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9614" y="5452603"/>
            <a:ext cx="602369" cy="602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 descr="File:Expressjs.png - Wikimedia Commons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975" y="5590888"/>
            <a:ext cx="1487395" cy="451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7" name="Straight Arrow Connector 1026"/>
          <p:cNvCxnSpPr/>
          <p:nvPr/>
        </p:nvCxnSpPr>
        <p:spPr>
          <a:xfrm flipH="1" flipV="1">
            <a:off x="6517663" y="4472261"/>
            <a:ext cx="594017" cy="743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28" name="Rectangle 1027"/>
          <p:cNvSpPr/>
          <p:nvPr/>
        </p:nvSpPr>
        <p:spPr>
          <a:xfrm>
            <a:off x="5940969" y="3549478"/>
            <a:ext cx="1975718" cy="92278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9" name="TextBox 1028"/>
          <p:cNvSpPr txBox="1"/>
          <p:nvPr/>
        </p:nvSpPr>
        <p:spPr>
          <a:xfrm>
            <a:off x="6331083" y="3341763"/>
            <a:ext cx="1092787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84" name="Picture 60" descr="GitHub Logo, symbol, meaning, history, PNG, brand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4428" y="3775480"/>
            <a:ext cx="1179053" cy="663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36914" cy="83999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Code</a:t>
            </a:r>
          </a:p>
          <a:p>
            <a:pPr algn="ctr"/>
            <a:r>
              <a:rPr lang="en-US">
                <a:ea typeface="Calibri"/>
                <a:cs typeface="Calibri"/>
              </a:rPr>
              <a:t>Catalyst6.0</a:t>
            </a:r>
            <a:endParaRPr lang="en-US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2686E2-5F2A-F948-746E-F57B48C0AC89}"/>
              </a:ext>
            </a:extLst>
          </p:cNvPr>
          <p:cNvSpPr txBox="1"/>
          <p:nvPr/>
        </p:nvSpPr>
        <p:spPr>
          <a:xfrm>
            <a:off x="483269" y="1175084"/>
            <a:ext cx="3254542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ＭＳ Ｐゴシック"/>
                <a:cs typeface="Calibri"/>
              </a:rPr>
              <a:t>      </a:t>
            </a:r>
            <a:r>
              <a:rPr lang="en-US" sz="2800" b="1">
                <a:latin typeface="Calibri"/>
                <a:ea typeface="ＭＳ Ｐゴシック"/>
                <a:cs typeface="Calibri"/>
              </a:rPr>
              <a:t> Feasibility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Cloud backend (Firebase/</a:t>
            </a:r>
            <a:r>
              <a:rPr lang="en-US" err="1">
                <a:latin typeface="Calibri"/>
                <a:ea typeface="ＭＳ Ｐゴシック"/>
                <a:cs typeface="Calibri"/>
              </a:rPr>
              <a:t>Firestore</a:t>
            </a:r>
            <a:r>
              <a:rPr lang="en-US">
                <a:latin typeface="Calibri"/>
                <a:ea typeface="ＭＳ Ｐゴシック"/>
                <a:cs typeface="Calibri"/>
              </a:rPr>
              <a:t>, Express) for scalability.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APIs for weather, market prices, and translation.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Pre-trained AI/ML models (TensorFlow, </a:t>
            </a:r>
            <a:r>
              <a:rPr lang="en-US" err="1">
                <a:latin typeface="Calibri"/>
                <a:ea typeface="ＭＳ Ｐゴシック"/>
                <a:cs typeface="Calibri"/>
              </a:rPr>
              <a:t>PyTorch</a:t>
            </a:r>
            <a:r>
              <a:rPr lang="en-US">
                <a:latin typeface="Calibri"/>
                <a:ea typeface="ＭＳ Ｐゴシック"/>
                <a:cs typeface="Calibri"/>
              </a:rPr>
              <a:t>).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Multilingual support via Google APIs.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Cross-platform app with Flutter.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4893D-B3DD-5E31-66FB-EC221BC89C26}"/>
              </a:ext>
            </a:extLst>
          </p:cNvPr>
          <p:cNvSpPr txBox="1"/>
          <p:nvPr/>
        </p:nvSpPr>
        <p:spPr>
          <a:xfrm>
            <a:off x="4383505" y="1175084"/>
            <a:ext cx="2743200" cy="3293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ＭＳ Ｐゴシック"/>
                <a:cs typeface="Calibri"/>
              </a:rPr>
              <a:t>       </a:t>
            </a:r>
            <a:r>
              <a:rPr lang="en-US" sz="2800" b="1">
                <a:latin typeface="Calibri"/>
                <a:ea typeface="ＭＳ Ｐゴシック"/>
                <a:cs typeface="Calibri"/>
              </a:rPr>
              <a:t> Challenges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Poor internet in rural areas.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Inconsistent </a:t>
            </a:r>
            <a:r>
              <a:rPr lang="en-US" err="1">
                <a:latin typeface="Calibri"/>
                <a:ea typeface="ＭＳ Ｐゴシック"/>
                <a:cs typeface="Calibri"/>
              </a:rPr>
              <a:t>agri</a:t>
            </a:r>
            <a:r>
              <a:rPr lang="en-US">
                <a:latin typeface="Calibri"/>
                <a:ea typeface="ＭＳ Ｐゴシック"/>
                <a:cs typeface="Calibri"/>
              </a:rPr>
              <a:t>-data quality.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Scalability for millions of users.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Diverse languages/dialects.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Low digital literacy among farmers.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8B52E6-61A8-FA2E-4D53-B4D8340EA29A}"/>
              </a:ext>
            </a:extLst>
          </p:cNvPr>
          <p:cNvSpPr txBox="1"/>
          <p:nvPr/>
        </p:nvSpPr>
        <p:spPr>
          <a:xfrm>
            <a:off x="8343900" y="1094874"/>
            <a:ext cx="2743200" cy="3293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ＭＳ Ｐゴシック"/>
                <a:cs typeface="Calibri"/>
              </a:rPr>
              <a:t>     </a:t>
            </a:r>
            <a:r>
              <a:rPr lang="en-US" sz="2800" b="1">
                <a:latin typeface="Calibri"/>
                <a:ea typeface="ＭＳ Ｐゴシック"/>
                <a:cs typeface="Calibri"/>
              </a:rPr>
              <a:t>  Strategies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Offline-first design (caching/SMS fallback).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Partnerships with ICAR, Govt., FPOs.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Model optimization &amp; caching.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Regional dialect support with NLP.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Farmer training &amp; awareness drives.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B148CF-B670-A208-5C65-3D1FB8E8EBA8}"/>
              </a:ext>
            </a:extLst>
          </p:cNvPr>
          <p:cNvCxnSpPr/>
          <p:nvPr/>
        </p:nvCxnSpPr>
        <p:spPr>
          <a:xfrm>
            <a:off x="4037096" y="908886"/>
            <a:ext cx="22059" cy="408271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E79417-BBEE-388A-425C-534D7EE0837E}"/>
              </a:ext>
            </a:extLst>
          </p:cNvPr>
          <p:cNvCxnSpPr/>
          <p:nvPr/>
        </p:nvCxnSpPr>
        <p:spPr>
          <a:xfrm>
            <a:off x="7839576" y="811130"/>
            <a:ext cx="22057" cy="428324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8CB6543-AF30-ED37-7EE0-382F98D4EF47}"/>
              </a:ext>
            </a:extLst>
          </p:cNvPr>
          <p:cNvSpPr txBox="1"/>
          <p:nvPr/>
        </p:nvSpPr>
        <p:spPr>
          <a:xfrm>
            <a:off x="523374" y="4985085"/>
            <a:ext cx="7214936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Calibri"/>
                <a:ea typeface="ＭＳ Ｐゴシック"/>
                <a:cs typeface="Calibri"/>
              </a:rPr>
              <a:t>Business Idea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Subscription-based premium advisory services with voice call support.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Collaboration with government &amp; NGOs for large-scale adoption.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Calibri"/>
                <a:ea typeface="ＭＳ Ｐゴシック"/>
                <a:cs typeface="Calibri"/>
              </a:rPr>
              <a:t>Marketplace feature to connect farmers directly with buyers.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22304" cy="82738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Code</a:t>
            </a:r>
          </a:p>
          <a:p>
            <a:pPr algn="ctr"/>
            <a:r>
              <a:rPr lang="en-US"/>
              <a:t>Catalyst</a:t>
            </a:r>
            <a:endParaRPr lang="en-US">
              <a:ea typeface="Calibri"/>
              <a:cs typeface="Calibri"/>
            </a:endParaRPr>
          </a:p>
          <a:p>
            <a:pPr algn="ctr"/>
            <a:r>
              <a:rPr lang="en-US"/>
              <a:t>6.0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F3561C-6A88-2A3F-C6CB-CE124ABBE816}"/>
              </a:ext>
            </a:extLst>
          </p:cNvPr>
          <p:cNvSpPr txBox="1"/>
          <p:nvPr/>
        </p:nvSpPr>
        <p:spPr>
          <a:xfrm>
            <a:off x="6388770" y="1034716"/>
            <a:ext cx="5650830" cy="53860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Calibri"/>
                <a:ea typeface="ＭＳ Ｐゴシック"/>
                <a:cs typeface="Calibri"/>
              </a:rPr>
              <a:t>                                    </a:t>
            </a:r>
            <a:r>
              <a:rPr lang="en-US" sz="2800" b="1">
                <a:latin typeface="Calibri"/>
                <a:ea typeface="ＭＳ Ｐゴシック"/>
                <a:cs typeface="Calibri"/>
              </a:rPr>
              <a:t> Benefits</a:t>
            </a:r>
          </a:p>
          <a:p>
            <a:endParaRPr lang="en-US" sz="2800" b="1">
              <a:latin typeface="Calibri"/>
              <a:ea typeface="ＭＳ Ｐゴシック"/>
              <a:cs typeface="Calibri"/>
            </a:endParaRP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Yield Improvement</a:t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ICT-based advisories can enhance crop yields by 20–30% (NABARD, FAO reports).</a:t>
            </a: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Cost Savings</a:t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Smart fertilizer management reduces input costs by 15–20% (ICAR study).</a:t>
            </a: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Wider Farmer Coverage</a:t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The solution directly benefits 86% of Indian farmers, especially small and marginal farmers (NABARD, 2022).</a:t>
            </a: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Time Efficiency</a:t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Farmers save time through quick access to reliable information instead of depending on middlemen.</a:t>
            </a: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Income Growth</a:t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Digital advisory platforms have been shown to increase farmer incomes by 25% on average (World Bank AgriTech study).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5901A-922D-15CF-B80D-587723022406}"/>
              </a:ext>
            </a:extLst>
          </p:cNvPr>
          <p:cNvSpPr txBox="1"/>
          <p:nvPr/>
        </p:nvSpPr>
        <p:spPr>
          <a:xfrm>
            <a:off x="443163" y="1034715"/>
            <a:ext cx="5650830" cy="5324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Calibri"/>
                <a:ea typeface="ＭＳ Ｐゴシック"/>
                <a:cs typeface="Calibri"/>
              </a:rPr>
              <a:t>                                   </a:t>
            </a:r>
            <a:r>
              <a:rPr lang="en-US" sz="2800" b="1">
                <a:latin typeface="Calibri"/>
                <a:ea typeface="ＭＳ Ｐゴシック"/>
                <a:cs typeface="Calibri"/>
              </a:rPr>
              <a:t> Impact</a:t>
            </a:r>
          </a:p>
          <a:p>
            <a:endParaRPr lang="en-US" sz="2400" b="1">
              <a:latin typeface="Calibri"/>
              <a:ea typeface="ＭＳ Ｐゴシック"/>
              <a:cs typeface="Calibri"/>
            </a:endParaRP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Economic Upliftment</a:t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Enhances income and livelihoods of small and marginal farmers through better returns.</a:t>
            </a: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Sustainability</a:t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Promotes reduced chemical overuse, ensuring healthier soil, water, and long-term crop productivity.</a:t>
            </a: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Food Security</a:t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Contributes to higher and more reliable crop production, strengthening national food supply.</a:t>
            </a: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Digital Inclusion</a:t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Bridges the digital divide by enabling rural communities to adopt </a:t>
            </a:r>
            <a:r>
              <a:rPr lang="en-US" err="1">
                <a:latin typeface="Calibri"/>
                <a:ea typeface="ＭＳ Ｐゴシック"/>
                <a:cs typeface="Calibri"/>
              </a:rPr>
              <a:t>agri-tech</a:t>
            </a:r>
            <a:r>
              <a:rPr lang="en-US">
                <a:latin typeface="Calibri"/>
                <a:ea typeface="ＭＳ Ｐゴシック"/>
                <a:cs typeface="Calibri"/>
              </a:rPr>
              <a:t> solutions effectively.</a:t>
            </a:r>
          </a:p>
          <a:p>
            <a:pPr marL="228600" indent="-228600">
              <a:buFont typeface=""/>
              <a:buAutoNum type="arabicPeriod"/>
            </a:pPr>
            <a:r>
              <a:rPr lang="en-US" b="1">
                <a:latin typeface="Calibri"/>
                <a:ea typeface="ＭＳ Ｐゴシック"/>
                <a:cs typeface="Calibri"/>
              </a:rPr>
              <a:t>Policy and Scalability</a:t>
            </a:r>
            <a:br>
              <a:rPr lang="en-US"/>
            </a:br>
            <a:r>
              <a:rPr lang="en-US">
                <a:latin typeface="Calibri"/>
                <a:ea typeface="ＭＳ Ｐゴシック"/>
                <a:cs typeface="Calibri"/>
              </a:rPr>
              <a:t>Provides actionable data insights for government/NGO planning, with strong potential to scale across regions and diverse crops.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4E21DAA-F77C-FC85-DCD8-BBF304B6B115}"/>
              </a:ext>
            </a:extLst>
          </p:cNvPr>
          <p:cNvCxnSpPr/>
          <p:nvPr/>
        </p:nvCxnSpPr>
        <p:spPr>
          <a:xfrm>
            <a:off x="6220325" y="1818772"/>
            <a:ext cx="22060" cy="452387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878" y="1184453"/>
            <a:ext cx="2421199" cy="532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457200" indent="-457200" algn="just">
              <a:buFont typeface="Wingdings" panose="020B0604020202020204" pitchFamily="34" charset="0"/>
              <a:buChar char="v"/>
              <a:defRPr/>
            </a:pPr>
            <a:r>
              <a:rPr lang="en-US" sz="2800" u="sng" dirty="0" err="1">
                <a:solidFill>
                  <a:schemeClr val="tx2"/>
                </a:solidFill>
                <a:latin typeface="Arial"/>
                <a:ea typeface="ＭＳ Ｐゴシック"/>
                <a:cs typeface="Arial"/>
              </a:rPr>
              <a:t>Refrences</a:t>
            </a:r>
            <a:r>
              <a:rPr lang="en-US" sz="2800" u="sng" dirty="0">
                <a:solidFill>
                  <a:schemeClr val="tx2"/>
                </a:solidFill>
                <a:latin typeface="Arial"/>
                <a:ea typeface="ＭＳ Ｐゴシック"/>
                <a:cs typeface="Arial"/>
              </a:rPr>
              <a:t>:</a:t>
            </a:r>
            <a:endParaRPr lang="en-US" sz="2800" b="0" i="0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36914" cy="83999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Code </a:t>
            </a:r>
          </a:p>
          <a:p>
            <a:pPr algn="ctr"/>
            <a:r>
              <a:rPr lang="en-US" sz="1700" dirty="0">
                <a:ea typeface="Calibri"/>
                <a:cs typeface="Calibri"/>
              </a:rPr>
              <a:t>Catalyst</a:t>
            </a:r>
          </a:p>
          <a:p>
            <a:pPr algn="ctr"/>
            <a:r>
              <a:rPr lang="en-US" dirty="0">
                <a:ea typeface="Calibri"/>
                <a:cs typeface="Calibri"/>
              </a:rPr>
              <a:t>6.0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C57129-167F-C627-4F85-1F80719CA45B}"/>
              </a:ext>
            </a:extLst>
          </p:cNvPr>
          <p:cNvSpPr txBox="1"/>
          <p:nvPr/>
        </p:nvSpPr>
        <p:spPr>
          <a:xfrm>
            <a:off x="332885" y="1710344"/>
            <a:ext cx="28975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  <a:ea typeface="ＭＳ Ｐゴシック"/>
                <a:cs typeface="Arial"/>
              </a:rPr>
              <a:t>Existing Website &amp; App: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44A2B6-F80B-D659-37CE-C75F53873424}"/>
              </a:ext>
            </a:extLst>
          </p:cNvPr>
          <p:cNvSpPr txBox="1"/>
          <p:nvPr/>
        </p:nvSpPr>
        <p:spPr>
          <a:xfrm>
            <a:off x="327149" y="2090045"/>
            <a:ext cx="343767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1400" err="1">
                <a:latin typeface="Arial"/>
                <a:ea typeface="ＭＳ Ｐゴシック"/>
                <a:cs typeface="Arial"/>
              </a:rPr>
              <a:t>AgroStar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:</a:t>
            </a:r>
            <a:r>
              <a:rPr lang="en-US" dirty="0">
                <a:latin typeface="Arial"/>
                <a:ea typeface="ＭＳ Ｐゴシック"/>
                <a:cs typeface="Arial"/>
              </a:rPr>
              <a:t> </a:t>
            </a:r>
            <a:r>
              <a:rPr lang="en-US" sz="1200" dirty="0">
                <a:latin typeface="Arial"/>
                <a:ea typeface="Calibri"/>
                <a:cs typeface="Calibri"/>
                <a:hlinkClick r:id="rId4"/>
              </a:rPr>
              <a:t>https://agrostar.in/shop?language=hi&amp;state=uttar-pradesh</a:t>
            </a:r>
            <a:r>
              <a:rPr lang="en-US" sz="1200" dirty="0">
                <a:latin typeface="Arial"/>
                <a:ea typeface="ＭＳ Ｐゴシック"/>
                <a:cs typeface="Arial"/>
              </a:rPr>
              <a:t> </a:t>
            </a:r>
            <a:endParaRPr lang="en-US" sz="1200">
              <a:latin typeface="Arial"/>
              <a:cs typeface="Arial"/>
            </a:endParaRPr>
          </a:p>
          <a:p>
            <a:pPr marL="285750" indent="-285750">
              <a:buFont typeface="Wingdings"/>
              <a:buChar char="Ø"/>
            </a:pPr>
            <a:r>
              <a:rPr lang="en-US" sz="1400" err="1">
                <a:latin typeface="Arial"/>
                <a:ea typeface="Calibri"/>
                <a:cs typeface="Calibri"/>
              </a:rPr>
              <a:t>Plantix</a:t>
            </a:r>
            <a:r>
              <a:rPr lang="en-US" sz="1400" dirty="0">
                <a:latin typeface="Arial"/>
                <a:ea typeface="Calibri"/>
                <a:cs typeface="Calibri"/>
              </a:rPr>
              <a:t>: </a:t>
            </a:r>
            <a:r>
              <a:rPr lang="en-US" sz="1400" dirty="0">
                <a:latin typeface="Arial"/>
                <a:ea typeface="Calibri"/>
                <a:cs typeface="Calibri"/>
                <a:hlinkClick r:id="rId5"/>
              </a:rPr>
              <a:t>https://plantix.net/</a:t>
            </a:r>
            <a:endParaRPr lang="en-US" sz="1400" dirty="0">
              <a:latin typeface="Arial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1400" dirty="0">
                <a:latin typeface="Arial"/>
                <a:ea typeface="Calibri"/>
                <a:cs typeface="Calibri"/>
              </a:rPr>
              <a:t>Kisan Suvidha: </a:t>
            </a:r>
            <a:r>
              <a:rPr lang="en-US" sz="1200" dirty="0">
                <a:latin typeface="Arial"/>
                <a:ea typeface="Calibri"/>
                <a:cs typeface="Calibri"/>
                <a:hlinkClick r:id="rId6"/>
              </a:rPr>
              <a:t>https://secure.mygov.in/group-issue/kisan-suvidha-smart-mobile-app-farmers/</a:t>
            </a:r>
            <a:endParaRPr lang="en-US" sz="1200">
              <a:latin typeface="Arial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1400" err="1">
                <a:latin typeface="Arial"/>
                <a:ea typeface="Calibri"/>
                <a:cs typeface="Calibri"/>
              </a:rPr>
              <a:t>Cropin</a:t>
            </a:r>
            <a:r>
              <a:rPr lang="en-US" sz="1400" dirty="0">
                <a:latin typeface="Arial"/>
                <a:ea typeface="Calibri"/>
                <a:cs typeface="Calibri"/>
              </a:rPr>
              <a:t> Grow: </a:t>
            </a:r>
            <a:r>
              <a:rPr lang="en-US" sz="1400" dirty="0">
                <a:latin typeface="Arial"/>
                <a:ea typeface="Calibri"/>
                <a:cs typeface="Calibri"/>
                <a:hlinkClick r:id="rId7"/>
              </a:rPr>
              <a:t>https://www.cropin.com/</a:t>
            </a:r>
            <a:endParaRPr lang="en-US" sz="1400" dirty="0">
              <a:latin typeface="Arial"/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8B0DCD-3580-3D0D-BFAC-21DD76EC7AF9}"/>
              </a:ext>
            </a:extLst>
          </p:cNvPr>
          <p:cNvSpPr txBox="1"/>
          <p:nvPr/>
        </p:nvSpPr>
        <p:spPr>
          <a:xfrm>
            <a:off x="410851" y="3955520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  <a:ea typeface="ＭＳ Ｐゴシック"/>
                <a:cs typeface="Calibri"/>
              </a:rPr>
              <a:t>Research Innovation :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4F056A-98DB-1653-5D0C-7D5B5B3AEF9B}"/>
              </a:ext>
            </a:extLst>
          </p:cNvPr>
          <p:cNvSpPr txBox="1"/>
          <p:nvPr/>
        </p:nvSpPr>
        <p:spPr>
          <a:xfrm>
            <a:off x="211402" y="4323558"/>
            <a:ext cx="3563072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1400" err="1">
                <a:latin typeface="Arial"/>
                <a:ea typeface="ＭＳ Ｐゴシック"/>
                <a:cs typeface="Arial"/>
              </a:rPr>
              <a:t>Farmer.chat</a:t>
            </a:r>
            <a:r>
              <a:rPr lang="en-US" sz="1400" dirty="0">
                <a:latin typeface="Arial"/>
                <a:ea typeface="ＭＳ Ｐゴシック"/>
                <a:cs typeface="Arial"/>
              </a:rPr>
              <a:t>: </a:t>
            </a:r>
            <a:r>
              <a:rPr lang="en-US" sz="1400" dirty="0">
                <a:latin typeface="Arial"/>
                <a:ea typeface="Calibri"/>
                <a:cs typeface="Calibri"/>
                <a:hlinkClick r:id="rId8"/>
              </a:rPr>
              <a:t>https://arxiv.org/abs/2409.08916</a:t>
            </a:r>
            <a:endParaRPr lang="en-US" sz="1400" dirty="0">
              <a:latin typeface="Arial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1400" err="1">
                <a:latin typeface="Arial"/>
                <a:ea typeface="Calibri"/>
                <a:cs typeface="Calibri"/>
              </a:rPr>
              <a:t>PlantNet</a:t>
            </a:r>
            <a:r>
              <a:rPr lang="en-US" sz="1400" dirty="0">
                <a:latin typeface="Arial"/>
                <a:ea typeface="Calibri"/>
                <a:cs typeface="Calibri"/>
              </a:rPr>
              <a:t>: </a:t>
            </a:r>
            <a:r>
              <a:rPr lang="en-US" sz="1400" dirty="0">
                <a:latin typeface="Arial"/>
                <a:ea typeface="Calibri"/>
                <a:cs typeface="Calibri"/>
                <a:hlinkClick r:id="rId9"/>
              </a:rPr>
              <a:t>https://plantnet.org/en/</a:t>
            </a:r>
            <a:endParaRPr lang="en-US" sz="1400" dirty="0">
              <a:latin typeface="Arial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1400" dirty="0">
                <a:latin typeface="Arial"/>
                <a:ea typeface="Calibri"/>
                <a:cs typeface="Calibri"/>
              </a:rPr>
              <a:t>Krishi Sathi: </a:t>
            </a:r>
            <a:r>
              <a:rPr lang="en-US" sz="1200" dirty="0">
                <a:latin typeface="Arial"/>
                <a:ea typeface="Calibri"/>
                <a:cs typeface="Calibri"/>
                <a:hlinkClick r:id="rId10"/>
              </a:rPr>
              <a:t>https://www.linkedin.com/pulse/krishi-saathi-ai-powered-agricultural-advisory-indias-yfznc/</a:t>
            </a:r>
            <a:endParaRPr lang="en-US" sz="1200">
              <a:latin typeface="Arial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374553-0202-3718-D040-283AB5BE33C6}"/>
              </a:ext>
            </a:extLst>
          </p:cNvPr>
          <p:cNvSpPr txBox="1"/>
          <p:nvPr/>
        </p:nvSpPr>
        <p:spPr>
          <a:xfrm>
            <a:off x="3803942" y="1096971"/>
            <a:ext cx="635064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v"/>
            </a:pPr>
            <a:r>
              <a:rPr lang="en-US" sz="2800" u="sng" dirty="0">
                <a:solidFill>
                  <a:schemeClr val="tx2"/>
                </a:solidFill>
                <a:latin typeface="Arial"/>
                <a:ea typeface="ＭＳ Ｐゴシック"/>
                <a:cs typeface="Arial"/>
              </a:rPr>
              <a:t>Comparision with Existing Systems:</a:t>
            </a:r>
            <a:endParaRPr lang="en-US" sz="2800" u="sng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361D17D-BD35-F222-CC3F-2BE7ADAF5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296756"/>
              </p:ext>
            </p:extLst>
          </p:nvPr>
        </p:nvGraphicFramePr>
        <p:xfrm>
          <a:off x="3795115" y="1571745"/>
          <a:ext cx="8117127" cy="47844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9355">
                  <a:extLst>
                    <a:ext uri="{9D8B030D-6E8A-4147-A177-3AD203B41FA5}">
                      <a16:colId xmlns:a16="http://schemas.microsoft.com/office/drawing/2014/main" val="485883200"/>
                    </a:ext>
                  </a:extLst>
                </a:gridCol>
                <a:gridCol w="1774806">
                  <a:extLst>
                    <a:ext uri="{9D8B030D-6E8A-4147-A177-3AD203B41FA5}">
                      <a16:colId xmlns:a16="http://schemas.microsoft.com/office/drawing/2014/main" val="948218424"/>
                    </a:ext>
                  </a:extLst>
                </a:gridCol>
                <a:gridCol w="1563851">
                  <a:extLst>
                    <a:ext uri="{9D8B030D-6E8A-4147-A177-3AD203B41FA5}">
                      <a16:colId xmlns:a16="http://schemas.microsoft.com/office/drawing/2014/main" val="212421474"/>
                    </a:ext>
                  </a:extLst>
                </a:gridCol>
                <a:gridCol w="1192900">
                  <a:extLst>
                    <a:ext uri="{9D8B030D-6E8A-4147-A177-3AD203B41FA5}">
                      <a16:colId xmlns:a16="http://schemas.microsoft.com/office/drawing/2014/main" val="1386473985"/>
                    </a:ext>
                  </a:extLst>
                </a:gridCol>
                <a:gridCol w="1796215">
                  <a:extLst>
                    <a:ext uri="{9D8B030D-6E8A-4147-A177-3AD203B41FA5}">
                      <a16:colId xmlns:a16="http://schemas.microsoft.com/office/drawing/2014/main" val="3970302981"/>
                    </a:ext>
                  </a:extLst>
                </a:gridCol>
              </a:tblGrid>
              <a:tr h="371785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u="sng" err="1">
                          <a:latin typeface="Times New Roman"/>
                        </a:rPr>
                        <a:t>KrishiSakhi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err="1">
                          <a:latin typeface="Times New Roman"/>
                        </a:rPr>
                        <a:t>AgroStar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err="1">
                          <a:latin typeface="Times New Roman"/>
                        </a:rPr>
                        <a:t>Plantix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Kisan Suvidha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054543"/>
                  </a:ext>
                </a:extLst>
              </a:tr>
              <a:tr h="65505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</a:rPr>
                        <a:t>Multilingual  AI </a:t>
                      </a:r>
                      <a:r>
                        <a:rPr lang="en-US" err="1">
                          <a:latin typeface="Times New Roman"/>
                        </a:rPr>
                        <a:t>ChatBot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   ✅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✅(Limited)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✅(Partial)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433343"/>
                  </a:ext>
                </a:extLst>
              </a:tr>
              <a:tr h="37178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Crop </a:t>
                      </a:r>
                      <a:r>
                        <a:rPr lang="en-US" err="1">
                          <a:latin typeface="Times New Roman"/>
                        </a:rPr>
                        <a:t>Calender</a:t>
                      </a:r>
                      <a:endParaRPr lang="en-US" dirty="0" err="1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 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50516"/>
                  </a:ext>
                </a:extLst>
              </a:tr>
              <a:tr h="65263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Pest / Disease Image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139180"/>
                  </a:ext>
                </a:extLst>
              </a:tr>
              <a:tr h="65505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Market Price Tracking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    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616"/>
                  </a:ext>
                </a:extLst>
              </a:tr>
              <a:tr h="6550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Voice support for literacy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    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328431"/>
                  </a:ext>
                </a:extLst>
              </a:tr>
              <a:tr h="6550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Direct Local Shop Linkage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    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810091"/>
                  </a:ext>
                </a:extLst>
              </a:tr>
              <a:tr h="37178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Alert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   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140874"/>
                  </a:ext>
                </a:extLst>
              </a:tr>
              <a:tr h="37178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Feedback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✅(Limited)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Times New Roman"/>
                        </a:rPr>
                        <a:t>  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❌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  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715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7735</TotalTime>
  <Words>906</Words>
  <Application>Microsoft Office PowerPoint</Application>
  <PresentationFormat>Widescreen</PresentationFormat>
  <Paragraphs>159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Smart Crop Advisory System for Small and Marginal Farmers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Sarthak Agnihotri</cp:lastModifiedBy>
  <cp:revision>962</cp:revision>
  <dcterms:created xsi:type="dcterms:W3CDTF">2013-12-12T18:46:50Z</dcterms:created>
  <dcterms:modified xsi:type="dcterms:W3CDTF">2026-09-04T21:34:31Z</dcterms:modified>
  <cp:category/>
</cp:coreProperties>
</file>